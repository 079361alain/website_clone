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68" r:id="rId5"/>
    <p:sldId id="271" r:id="rId6"/>
    <p:sldId id="259" r:id="rId7"/>
    <p:sldId id="270" r:id="rId8"/>
    <p:sldId id="269" r:id="rId9"/>
    <p:sldId id="261" r:id="rId10"/>
    <p:sldId id="275" r:id="rId11"/>
    <p:sldId id="262" r:id="rId12"/>
    <p:sldId id="266" r:id="rId13"/>
    <p:sldId id="274" r:id="rId14"/>
    <p:sldId id="273" r:id="rId15"/>
    <p:sldId id="263" r:id="rId16"/>
    <p:sldId id="2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7" d="100"/>
          <a:sy n="67" d="100"/>
        </p:scale>
        <p:origin x="6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10/31/2025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C6C2BE2-6366-45FD-B000-E08AE1904977}"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F515ED-0BE1-430B-B987-27E56A476AA1}"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6C2BE2-6366-45FD-B000-E08AE1904977}"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F515ED-0BE1-430B-B987-27E56A476AA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6C2BE2-6366-45FD-B000-E08AE1904977}"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F515ED-0BE1-430B-B987-27E56A476AA1}"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C6C2BE2-6366-45FD-B000-E08AE1904977}" type="datetimeFigureOut">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F515ED-0BE1-430B-B987-27E56A476AA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C2BE2-6366-45FD-B000-E08AE1904977}" type="datetimeFigureOut">
              <a:rPr lang="en-US" smtClean="0"/>
              <a:t>10/31/2025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F515ED-0BE1-430B-B987-27E56A476AA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C6C2BE2-6366-45FD-B000-E08AE1904977}" type="datetimeFigureOut">
              <a:rPr lang="en-US" smtClean="0"/>
              <a:t>10/31/2025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F515ED-0BE1-430B-B987-27E56A476AA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6C2BE2-6366-45FD-B000-E08AE1904977}" type="datetimeFigureOut">
              <a:rPr lang="en-US" smtClean="0"/>
              <a:t>10/31/2025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1F515ED-0BE1-430B-B987-27E56A476AA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C6C2BE2-6366-45FD-B000-E08AE1904977}" type="datetimeFigureOut">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F515ED-0BE1-430B-B987-27E56A476AA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C6C2BE2-6366-45FD-B000-E08AE1904977}" type="datetimeFigureOut">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F515ED-0BE1-430B-B987-27E56A476AA1}"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6C2BE2-6366-45FD-B000-E08AE1904977}"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F515ED-0BE1-430B-B987-27E56A476AA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6C2BE2-6366-45FD-B000-E08AE1904977}"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F515ED-0BE1-430B-B987-27E56A476AA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C2BE2-6366-45FD-B000-E08AE1904977}" type="datetimeFigureOut">
              <a:rPr lang="en-US" smtClean="0"/>
              <a:t>10/31/2025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F515ED-0BE1-430B-B987-27E56A476AA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musiimenta@must.ac.ug" TargetMode="External"/><Relationship Id="rId2" Type="http://schemas.openxmlformats.org/officeDocument/2006/relationships/hyperlink" Target="mailto:baharawechristalain@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37210"/>
            <a:ext cx="9144000" cy="2108835"/>
          </a:xfrm>
        </p:spPr>
        <p:txBody>
          <a:bodyPr>
            <a:normAutofit/>
          </a:bodyPr>
          <a:lstStyle/>
          <a:p>
            <a:pPr>
              <a:lnSpc>
                <a:spcPct val="150000"/>
              </a:lnSpc>
              <a:spcBef>
                <a:spcPct val="20000"/>
              </a:spcBef>
              <a:spcAft>
                <a:spcPts val="600"/>
              </a:spcAft>
              <a:buClr>
                <a:schemeClr val="accent1"/>
              </a:buClr>
              <a:buSzPct val="115000"/>
            </a:pPr>
            <a:r>
              <a:rPr lang="en-US" sz="2400" dirty="0">
                <a:solidFill>
                  <a:schemeClr val="tx1"/>
                </a:solidFill>
                <a:latin typeface="Times New Roman" panose="02020603050405020304" pitchFamily="18" charset="0"/>
                <a:ea typeface="+mn-ea"/>
                <a:cs typeface="Times New Roman" panose="02020603050405020304" pitchFamily="18" charset="0"/>
              </a:rPr>
              <a:t>DESIGN AND IMPLEMENTATION OF ELECTRONIC MENTAL HEALTH INFORMATION SYSTEM FOR REFUGEES IN UGANDA</a:t>
            </a:r>
            <a:br>
              <a:rPr lang="en-US" sz="2100" dirty="0">
                <a:solidFill>
                  <a:schemeClr val="tx1"/>
                </a:solidFill>
                <a:latin typeface="+mn-lt"/>
                <a:ea typeface="+mn-ea"/>
                <a:cs typeface="+mn-cs"/>
              </a:rPr>
            </a:br>
            <a:r>
              <a:rPr lang="en-US" sz="2100" dirty="0">
                <a:solidFill>
                  <a:schemeClr val="tx1"/>
                </a:solidFill>
                <a:latin typeface="Times New Roman" panose="02020603050405020304" pitchFamily="18" charset="0"/>
                <a:ea typeface="+mn-ea"/>
                <a:cs typeface="Times New Roman" panose="02020603050405020304" pitchFamily="18" charset="0"/>
              </a:rPr>
              <a:t>CASE : SOUTH WESTERN </a:t>
            </a:r>
          </a:p>
        </p:txBody>
      </p:sp>
      <p:sp>
        <p:nvSpPr>
          <p:cNvPr id="3" name="Subtitle 2"/>
          <p:cNvSpPr>
            <a:spLocks noGrp="1"/>
          </p:cNvSpPr>
          <p:nvPr>
            <p:ph type="subTitle" idx="1"/>
          </p:nvPr>
        </p:nvSpPr>
        <p:spPr>
          <a:xfrm>
            <a:off x="1806575" y="2794635"/>
            <a:ext cx="9144000" cy="3549015"/>
          </a:xfrm>
        </p:spPr>
        <p:txBody>
          <a:bodyPr>
            <a:normAutofit fontScale="97500" lnSpcReduction="10000"/>
          </a:bodyPr>
          <a:lstStyle/>
          <a:p>
            <a:endParaRPr lang="en-US" sz="2595" dirty="0"/>
          </a:p>
          <a:p>
            <a:r>
              <a:rPr lang="en-US" sz="2595" dirty="0">
                <a:latin typeface="Times New Roman" panose="02020603050405020304" pitchFamily="18" charset="0"/>
                <a:cs typeface="Times New Roman" panose="02020603050405020304" pitchFamily="18" charset="0"/>
              </a:rPr>
              <a:t>BAHARAWE CHRIST ALAIN 2024/MSIS/009/PS</a:t>
            </a:r>
          </a:p>
          <a:p>
            <a:r>
              <a:rPr lang="en-US" sz="2595" dirty="0">
                <a:latin typeface="Times New Roman" panose="02020603050405020304" pitchFamily="18" charset="0"/>
                <a:cs typeface="Times New Roman" panose="02020603050405020304" pitchFamily="18" charset="0"/>
              </a:rPr>
              <a:t>Tel: +256762474105</a:t>
            </a:r>
          </a:p>
          <a:p>
            <a:r>
              <a:rPr lang="en-US" sz="2595" dirty="0">
                <a:latin typeface="Times New Roman" panose="02020603050405020304" pitchFamily="18" charset="0"/>
                <a:cs typeface="Times New Roman" panose="02020603050405020304" pitchFamily="18" charset="0"/>
              </a:rPr>
              <a:t>Email: </a:t>
            </a:r>
            <a:r>
              <a:rPr lang="en-US" sz="2595" dirty="0">
                <a:latin typeface="Times New Roman" panose="02020603050405020304" pitchFamily="18" charset="0"/>
                <a:cs typeface="Times New Roman" panose="02020603050405020304" pitchFamily="18" charset="0"/>
                <a:hlinkClick r:id="rId2"/>
              </a:rPr>
              <a:t>baharawechristalain@gmail.com</a:t>
            </a:r>
            <a:endParaRPr lang="en-US" sz="2595" dirty="0">
              <a:latin typeface="Times New Roman" panose="02020603050405020304" pitchFamily="18" charset="0"/>
              <a:cs typeface="Times New Roman" panose="02020603050405020304" pitchFamily="18" charset="0"/>
            </a:endParaRPr>
          </a:p>
          <a:p>
            <a:r>
              <a:rPr lang="en-US" sz="2595" dirty="0">
                <a:latin typeface="Times New Roman" panose="02020603050405020304" pitchFamily="18" charset="0"/>
                <a:cs typeface="Times New Roman" panose="02020603050405020304" pitchFamily="18" charset="0"/>
              </a:rPr>
              <a:t>SUPERVISOR : Dr. MUSIIMENTA ANGELA</a:t>
            </a:r>
          </a:p>
          <a:p>
            <a:r>
              <a:rPr lang="en-US" sz="2595" dirty="0">
                <a:latin typeface="Times New Roman" panose="02020603050405020304" pitchFamily="18" charset="0"/>
                <a:cs typeface="Times New Roman" panose="02020603050405020304" pitchFamily="18" charset="0"/>
              </a:rPr>
              <a:t>Email: </a:t>
            </a:r>
            <a:r>
              <a:rPr lang="en-US" sz="2595" u="sng" dirty="0">
                <a:latin typeface="Times New Roman" panose="02020603050405020304" pitchFamily="18" charset="0"/>
                <a:cs typeface="Times New Roman" panose="02020603050405020304" pitchFamily="18" charset="0"/>
                <a:hlinkClick r:id="rId3"/>
              </a:rPr>
              <a:t>amusiimenta@must.ac.ug</a:t>
            </a:r>
            <a:r>
              <a:rPr lang="en-US" sz="2595" dirty="0">
                <a:latin typeface="Times New Roman" panose="02020603050405020304" pitchFamily="18" charset="0"/>
                <a:cs typeface="Times New Roman" panose="02020603050405020304" pitchFamily="18" charset="0"/>
              </a:rPr>
              <a:t> </a:t>
            </a:r>
          </a:p>
          <a:p>
            <a:endParaRPr lang="en-US" sz="2595" dirty="0"/>
          </a:p>
          <a:p>
            <a:r>
              <a:rPr lang="en-US" sz="2595" dirty="0"/>
              <a:t>31</a:t>
            </a:r>
            <a:r>
              <a:rPr lang="en-US" sz="2595" baseline="30000" dirty="0"/>
              <a:t>st</a:t>
            </a:r>
            <a:r>
              <a:rPr lang="en-US" sz="2595" dirty="0"/>
              <a:t> October  2025</a:t>
            </a:r>
          </a:p>
          <a:p>
            <a:endParaRPr lang="en-US" dirty="0"/>
          </a:p>
          <a:p>
            <a:endParaRPr lang="en-US" dirty="0"/>
          </a:p>
          <a:p>
            <a:endParaRPr lang="en-US" dirty="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sz="2800" b="1" dirty="0">
                <a:latin typeface="Times New Roman" panose="02020603050405020304" pitchFamily="18" charset="0"/>
                <a:cs typeface="Times New Roman" panose="02020603050405020304" pitchFamily="18" charset="0"/>
              </a:rPr>
              <a:t>Introduction/Background</a:t>
            </a:r>
            <a:endParaRPr lang="en-US" sz="2800" dirty="0"/>
          </a:p>
        </p:txBody>
      </p:sp>
      <p:sp>
        <p:nvSpPr>
          <p:cNvPr id="3" name="Content Placeholder 2"/>
          <p:cNvSpPr>
            <a:spLocks noGrp="1"/>
          </p:cNvSpPr>
          <p:nvPr>
            <p:ph idx="1"/>
          </p:nvPr>
        </p:nvSpPr>
        <p:spPr>
          <a:xfrm>
            <a:off x="838200" y="1691640"/>
            <a:ext cx="10515600" cy="4485640"/>
          </a:xfrm>
        </p:spPr>
        <p:txBody>
          <a:bodyPr>
            <a:normAutofit fontScale="90000"/>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Mental health problems are big issue around the world and are even worse for refugees. Refugees often go through war, violence and losing their homes. Because of these hard experiences, many suffer from mental health issues such as post-traumatic stress disorder (PTSD), depression, anxiety, grief and drug and alcohol problems.</a:t>
            </a:r>
            <a:r>
              <a:rPr lang="en-US" dirty="0">
                <a:latin typeface="Times New Roman" panose="02020603050405020304" pitchFamily="18" charset="0"/>
                <a:cs typeface="Times New Roman" panose="02020603050405020304" pitchFamily="18" charset="0"/>
                <a:sym typeface="+mn-ea"/>
              </a:rPr>
              <a:t>Uganda is the largest host of refugees in Africa with more than 1.5 million people many live in refugee settlements such Nakivale, Kyangwali, among others (</a:t>
            </a:r>
            <a:r>
              <a:rPr lang="en-US" altLang="en-US" dirty="0">
                <a:latin typeface="Times New Roman" panose="02020603050405020304" pitchFamily="18" charset="0"/>
                <a:cs typeface="Times New Roman" panose="02020603050405020304" pitchFamily="18" charset="0"/>
                <a:sym typeface="+mn-ea"/>
              </a:rPr>
              <a:t>Sijbrandija, 2017</a:t>
            </a:r>
            <a:r>
              <a:rPr lang="en-US" dirty="0">
                <a:latin typeface="Times New Roman" panose="02020603050405020304" pitchFamily="18" charset="0"/>
                <a:cs typeface="Times New Roman" panose="02020603050405020304" pitchFamily="18" charset="0"/>
                <a:sym typeface="+mn-ea"/>
              </a:rPr>
              <a:t>).</a:t>
            </a:r>
            <a:endParaRPr lang="en-US" dirty="0">
              <a:latin typeface="Times New Roman" panose="02020603050405020304" pitchFamily="18" charset="0"/>
              <a:cs typeface="Times New Roman" panose="02020603050405020304" pitchFamily="18" charset="0"/>
            </a:endParaRPr>
          </a:p>
          <a:p>
            <a:pPr>
              <a:lnSpc>
                <a:spcPct val="150000"/>
              </a:lnSpc>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8485"/>
          </a:xfrm>
        </p:spPr>
        <p:txBody>
          <a:bodyPr>
            <a:normAutofit fontScale="90000"/>
          </a:bodyPr>
          <a:lstStyle/>
          <a:p>
            <a:endParaRPr lang="en-US" dirty="0"/>
          </a:p>
        </p:txBody>
      </p:sp>
      <p:sp>
        <p:nvSpPr>
          <p:cNvPr id="3" name="Content Placeholder 2"/>
          <p:cNvSpPr>
            <a:spLocks noGrp="1"/>
          </p:cNvSpPr>
          <p:nvPr>
            <p:ph idx="1"/>
          </p:nvPr>
        </p:nvSpPr>
        <p:spPr>
          <a:xfrm>
            <a:off x="838200" y="1122680"/>
            <a:ext cx="10515600" cy="5377815"/>
          </a:xfrm>
        </p:spPr>
        <p:txBody>
          <a:bodyPr>
            <a:normAutofit lnSpcReduction="10000"/>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The health centers have are very busy and have limited resources, and lack of proper tools to help with mental health. Also many refugees don’t seek for help because of stigma and cultural beliefs.</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The world health organization estimates that about 264 million people globally have depression, making it one of the leading cause people become disabled . Refugees and immigrants, particularly from war-torn countries and areas of severe displacement, are considered an extremely vulnerable population, thus carry a higher burden and risk of developing mental health disorders [5].</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fontScale="90000"/>
          </a:bodyPr>
          <a:lstStyle/>
          <a:p>
            <a:endParaRPr lang="en-US"/>
          </a:p>
        </p:txBody>
      </p:sp>
      <p:sp>
        <p:nvSpPr>
          <p:cNvPr id="3" name="Content Placeholder 2"/>
          <p:cNvSpPr>
            <a:spLocks noGrp="1"/>
          </p:cNvSpPr>
          <p:nvPr>
            <p:ph idx="1"/>
          </p:nvPr>
        </p:nvSpPr>
        <p:spPr>
          <a:xfrm>
            <a:off x="838200" y="1122680"/>
            <a:ext cx="10515600" cy="5215890"/>
          </a:xfrm>
        </p:spPr>
        <p:txBody>
          <a:bodyPr>
            <a:normAutofit/>
          </a:bodyPr>
          <a:lstStyle/>
          <a:p>
            <a:pPr marL="0" indent="0" algn="just">
              <a:lnSpc>
                <a:spcPct val="150000"/>
              </a:lnSpc>
              <a:buNone/>
            </a:pPr>
            <a:r>
              <a:rPr lang="en-US" altLang="en-US" sz="2400">
                <a:latin typeface="Times New Roman" panose="02020603050405020304" pitchFamily="18" charset="0"/>
                <a:cs typeface="Times New Roman" panose="02020603050405020304" pitchFamily="18" charset="0"/>
              </a:rPr>
              <a:t>Mental health information system was designed and implemented in Ghana and South Africa to improve mental health monitoring and service delivery.</a:t>
            </a:r>
          </a:p>
          <a:p>
            <a:pPr marL="0" indent="0" algn="just">
              <a:lnSpc>
                <a:spcPct val="150000"/>
              </a:lnSpc>
              <a:buNone/>
            </a:pPr>
            <a:r>
              <a:rPr lang="en-US" altLang="en-US" sz="2400">
                <a:latin typeface="Times New Roman" panose="02020603050405020304" pitchFamily="18" charset="0"/>
                <a:cs typeface="Times New Roman" panose="02020603050405020304" pitchFamily="18" charset="0"/>
              </a:rPr>
              <a:t>In Ghana, a computerized registration system was introduced in psychiatric hospitals, while South Africa expended its district health indicators for mental health hospitals. The study shows that with stakeholder support, local training and local adaptation, mental health information system can improve not only data quality but also staff motivation and mental health governance. However, there was poor integration with national systems, low funding and insufficient training, and lack of early stakeholder engagement in system design(S. Ahuja, 2016).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6920"/>
          </a:xfrm>
        </p:spPr>
        <p:txBody>
          <a:bodyPr/>
          <a:lstStyle/>
          <a:p>
            <a:endParaRPr lang="en-US"/>
          </a:p>
        </p:txBody>
      </p:sp>
      <p:sp>
        <p:nvSpPr>
          <p:cNvPr id="3" name="Content Placeholder 2"/>
          <p:cNvSpPr>
            <a:spLocks noGrp="1"/>
          </p:cNvSpPr>
          <p:nvPr>
            <p:ph idx="1"/>
          </p:nvPr>
        </p:nvSpPr>
        <p:spPr>
          <a:xfrm>
            <a:off x="838200" y="1122680"/>
            <a:ext cx="10515600" cy="5537200"/>
          </a:xfrm>
        </p:spPr>
        <p:txBody>
          <a:bodyPr>
            <a:noAutofit/>
          </a:bodyPr>
          <a:lstStyle/>
          <a:p>
            <a:pPr marL="0" indent="0" algn="just">
              <a:lnSpc>
                <a:spcPct val="150000"/>
              </a:lnSpc>
              <a:buNone/>
            </a:pPr>
            <a:r>
              <a:rPr lang="en-US" altLang="en-US" sz="2700">
                <a:latin typeface="Times New Roman" panose="02020603050405020304" pitchFamily="18" charset="0"/>
                <a:cs typeface="Times New Roman" panose="02020603050405020304" pitchFamily="18" charset="0"/>
              </a:rPr>
              <a:t>Mental health care systems was developed to improve the mental healthcare for Syrian refugees in Europe and . Its aim was to address the growing mental health needs of displaced Syrians. The study shows that the intervention can  reduce stress and improve functioning, proving scalable mental health solutions are possible even in crisis situations when paired with proper adaptation and training. However, there was  lack of limited application of stepped care models and  and lack of robust evaluations of long term outcomes in refugees’ populations(Sijbrandija, 2017).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lnSpc>
                <a:spcPct val="150000"/>
              </a:lnSpc>
            </a:pPr>
            <a:r>
              <a:rPr lang="en-US" dirty="0">
                <a:latin typeface="Times New Roman" panose="02020603050405020304" pitchFamily="18" charset="0"/>
                <a:cs typeface="Times New Roman" panose="02020603050405020304" pitchFamily="18" charset="0"/>
              </a:rPr>
              <a:t>The aim of this project is to develop an electronic mental health information system for refugees in Uganda. This system will help healthcare workers diagnose mental problems, manage each case better, send patients to the right services and keep track of their progress.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36015"/>
          </a:xfrm>
        </p:spPr>
        <p:txBody>
          <a:bodyPr/>
          <a:lstStyle/>
          <a:p>
            <a:r>
              <a:rPr lang="en-US" sz="2800" b="1" dirty="0">
                <a:latin typeface="Times New Roman" panose="02020603050405020304" pitchFamily="18" charset="0"/>
                <a:cs typeface="Times New Roman" panose="02020603050405020304" pitchFamily="18" charset="0"/>
                <a:sym typeface="+mn-ea"/>
              </a:rPr>
              <a:t>Problem Statement</a:t>
            </a:r>
            <a:endParaRPr lang="en-US" sz="28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01775"/>
            <a:ext cx="10515600" cy="4675505"/>
          </a:xfrm>
        </p:spPr>
        <p:txBody>
          <a:bodyPr>
            <a:normAutofit lnSpcReduction="10000"/>
          </a:bodyPr>
          <a:lstStyle/>
          <a:p>
            <a:pPr marL="0" indent="0" algn="just">
              <a:lnSpc>
                <a:spcPct val="150000"/>
              </a:lnSpc>
              <a:buNone/>
            </a:pPr>
            <a:r>
              <a:rPr lang="en-US" dirty="0">
                <a:latin typeface="Times New Roman" panose="02020603050405020304" pitchFamily="18" charset="0"/>
                <a:cs typeface="Times New Roman" panose="02020603050405020304" pitchFamily="18" charset="0"/>
                <a:sym typeface="+mn-ea"/>
              </a:rPr>
              <a:t>Despite the prevalence of mental health problems among refugees, there is a lack of structured mechanisms for tracking and managing mental health data in refugee settlements in Uganda (Bou-Karrouma,2024). Globally, over between 30%-40% of refugees suffer from post trauma stress and disorder or depression</a:t>
            </a:r>
            <a:r>
              <a:rPr lang="en-US" altLang="en-US" dirty="0">
                <a:latin typeface="Times New Roman" panose="02020603050405020304" pitchFamily="18" charset="0"/>
                <a:cs typeface="Times New Roman" panose="02020603050405020304" pitchFamily="18" charset="0"/>
                <a:sym typeface="+mn-ea"/>
              </a:rPr>
              <a:t> (Liem, 2021). In Africa, many refugees face serious mental health problems, and  in Uganda about 54% of refugees suffer from depression (Okello, 2021).</a:t>
            </a:r>
            <a:endParaRPr lang="en-US" dirty="0">
              <a:latin typeface="Times New Roman" panose="02020603050405020304" pitchFamily="18" charset="0"/>
              <a:cs typeface="Times New Roman" panose="02020603050405020304" pitchFamily="18" charset="0"/>
            </a:endParaRPr>
          </a:p>
          <a:p>
            <a:pPr algn="just"/>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270" y="365125"/>
            <a:ext cx="10717530" cy="1033780"/>
          </a:xfrm>
        </p:spPr>
        <p:txBody>
          <a:bodyPr/>
          <a:lstStyle/>
          <a:p>
            <a:r>
              <a:rPr lang="en-US" b="1" dirty="0">
                <a:latin typeface="Times New Roman" panose="02020603050405020304" pitchFamily="18" charset="0"/>
                <a:cs typeface="Times New Roman" panose="02020603050405020304" pitchFamily="18" charset="0"/>
                <a:sym typeface="+mn-ea"/>
              </a:rPr>
              <a:t>Problem Statement Cont’</a:t>
            </a:r>
            <a:endParaRPr lang="en-US"/>
          </a:p>
        </p:txBody>
      </p:sp>
      <p:sp>
        <p:nvSpPr>
          <p:cNvPr id="3" name="Content Placeholder 2"/>
          <p:cNvSpPr>
            <a:spLocks noGrp="1"/>
          </p:cNvSpPr>
          <p:nvPr>
            <p:ph idx="1"/>
          </p:nvPr>
        </p:nvSpPr>
        <p:spPr>
          <a:xfrm>
            <a:off x="530860" y="1398270"/>
            <a:ext cx="10998200" cy="5100320"/>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sym typeface="+mn-ea"/>
              </a:rPr>
              <a:t>Health data is recorded on paper and across fragmented systems which makes difficult for follow up and evaluation. Due to that, patients relapse, go undiagnosed and receive delayed care (J</a:t>
            </a:r>
            <a:r>
              <a:rPr lang="en-US" altLang="en-US" dirty="0">
                <a:latin typeface="Times New Roman" panose="02020603050405020304" pitchFamily="18" charset="0"/>
                <a:cs typeface="Times New Roman" panose="02020603050405020304" pitchFamily="18" charset="0"/>
                <a:sym typeface="+mn-ea"/>
              </a:rPr>
              <a:t>oo, 2023</a:t>
            </a:r>
            <a:r>
              <a:rPr lang="en-US" dirty="0">
                <a:latin typeface="Times New Roman" panose="02020603050405020304" pitchFamily="18" charset="0"/>
                <a:cs typeface="Times New Roman" panose="02020603050405020304" pitchFamily="18" charset="0"/>
                <a:sym typeface="+mn-ea"/>
              </a:rPr>
              <a:t>). This makes data unavailable to guide non-government, government and humanitarian agencies in planning services.</a:t>
            </a:r>
          </a:p>
          <a:p>
            <a:pPr marL="0" indent="0" algn="just">
              <a:buNone/>
            </a:pPr>
            <a:r>
              <a:rPr lang="en-US" dirty="0">
                <a:latin typeface="Times New Roman" panose="02020603050405020304" pitchFamily="18" charset="0"/>
                <a:cs typeface="Times New Roman" panose="02020603050405020304" pitchFamily="18" charset="0"/>
                <a:sym typeface="+mn-ea"/>
              </a:rPr>
              <a:t>There is a need of integrated Mental Health Information System that supports health workers in mental healthcare delivery, recording, managing, and analyzing refugee mental health cases  due to trauma and displacements.</a:t>
            </a:r>
            <a:endParaRPr lang="en-US" dirty="0">
              <a:latin typeface="Times New Roman" panose="02020603050405020304" pitchFamily="18" charset="0"/>
              <a:cs typeface="Times New Roman" panose="02020603050405020304" pitchFamily="18" charset="0"/>
            </a:endParaRPr>
          </a:p>
          <a:p>
            <a:pPr algn="just"/>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3435"/>
          </a:xfrm>
        </p:spPr>
        <p:txBody>
          <a:bodyPr/>
          <a:lstStyle/>
          <a:p>
            <a:pPr lvl="0"/>
            <a:r>
              <a:rPr lang="en-US" sz="2800" b="1" dirty="0">
                <a:latin typeface="Times New Roman" panose="02020603050405020304" pitchFamily="18" charset="0"/>
                <a:cs typeface="Times New Roman" panose="02020603050405020304" pitchFamily="18" charset="0"/>
              </a:rPr>
              <a:t>Main Objective</a:t>
            </a:r>
            <a:endParaRPr lang="en-US" dirty="0"/>
          </a:p>
        </p:txBody>
      </p:sp>
      <p:sp>
        <p:nvSpPr>
          <p:cNvPr id="3" name="Content Placeholder 2"/>
          <p:cNvSpPr>
            <a:spLocks noGrp="1"/>
          </p:cNvSpPr>
          <p:nvPr>
            <p:ph idx="1"/>
          </p:nvPr>
        </p:nvSpPr>
        <p:spPr>
          <a:xfrm>
            <a:off x="838200" y="1178560"/>
            <a:ext cx="10632440" cy="4998720"/>
          </a:xfrm>
        </p:spPr>
        <p:txBody>
          <a:bodyPr>
            <a:normAutofit fontScale="90000" lnSpcReduction="10000"/>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To enhance an electronic mental health information system that supports efficient management and delivery of mental health services.</a:t>
            </a:r>
          </a:p>
          <a:p>
            <a:pPr marL="0" indent="0" algn="just">
              <a:lnSpc>
                <a:spcPct val="150000"/>
              </a:lnSpc>
              <a:buNone/>
            </a:pPr>
            <a:r>
              <a:rPr lang="en-US" b="1" dirty="0">
                <a:latin typeface="Times New Roman" panose="02020603050405020304" pitchFamily="18" charset="0"/>
                <a:cs typeface="Times New Roman" panose="02020603050405020304" pitchFamily="18" charset="0"/>
              </a:rPr>
              <a:t>Specific Objectives</a:t>
            </a:r>
          </a:p>
          <a:p>
            <a:pPr marL="0" lvl="0" indent="0" algn="just">
              <a:lnSpc>
                <a:spcPct val="150000"/>
              </a:lnSpc>
              <a:buNone/>
            </a:pPr>
            <a:r>
              <a:rPr lang="en-US" dirty="0">
                <a:latin typeface="Times New Roman" panose="02020603050405020304" pitchFamily="18" charset="0"/>
                <a:cs typeface="Times New Roman" panose="02020603050405020304" pitchFamily="18" charset="0"/>
                <a:sym typeface="+mn-ea"/>
              </a:rPr>
              <a:t>To analyze and review the existing electronic mental health information systems to identify its weaknesses and strengths by scoping review and focus groups.</a:t>
            </a:r>
            <a:endParaRPr lang="en-US" dirty="0">
              <a:latin typeface="Times New Roman" panose="02020603050405020304" pitchFamily="18" charset="0"/>
              <a:cs typeface="Times New Roman" panose="02020603050405020304" pitchFamily="18" charset="0"/>
            </a:endParaRPr>
          </a:p>
          <a:p>
            <a:pPr marL="0" lvl="0" indent="0" algn="just">
              <a:lnSpc>
                <a:spcPct val="150000"/>
              </a:lnSpc>
              <a:buNone/>
            </a:pPr>
            <a:r>
              <a:rPr lang="en-US" dirty="0">
                <a:latin typeface="Times New Roman" panose="02020603050405020304" pitchFamily="18" charset="0"/>
                <a:cs typeface="Times New Roman" panose="02020603050405020304" pitchFamily="18" charset="0"/>
                <a:sym typeface="+mn-ea"/>
              </a:rPr>
              <a:t>To co-design an electronic mental health information systems for refugees.</a:t>
            </a:r>
            <a:endParaRPr lang="en-US" dirty="0">
              <a:latin typeface="Times New Roman" panose="02020603050405020304" pitchFamily="18" charset="0"/>
              <a:cs typeface="Times New Roman" panose="02020603050405020304" pitchFamily="18" charset="0"/>
            </a:endParaRPr>
          </a:p>
          <a:p>
            <a:pPr marL="0" lvl="0" indent="0" algn="just">
              <a:lnSpc>
                <a:spcPct val="150000"/>
              </a:lnSpc>
              <a:buNone/>
            </a:pPr>
            <a:r>
              <a:rPr lang="en-US" dirty="0">
                <a:latin typeface="Times New Roman" panose="02020603050405020304" pitchFamily="18" charset="0"/>
                <a:cs typeface="Times New Roman" panose="02020603050405020304" pitchFamily="18" charset="0"/>
                <a:sym typeface="+mn-ea"/>
              </a:rPr>
              <a:t>To implement electronic mental health information system that will help healthcare wokers to track and monitor people with mental health issues.</a:t>
            </a:r>
            <a:endParaRPr lang="en-US" dirty="0">
              <a:latin typeface="Times New Roman" panose="02020603050405020304" pitchFamily="18" charset="0"/>
              <a:cs typeface="Times New Roman" panose="02020603050405020304" pitchFamily="18" charset="0"/>
            </a:endParaRPr>
          </a:p>
          <a:p>
            <a:pPr lvl="0" algn="just"/>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800" b="1">
                <a:latin typeface="Times New Roman" panose="02020603050405020304" pitchFamily="18" charset="0"/>
                <a:cs typeface="Times New Roman" panose="02020603050405020304" pitchFamily="18" charset="0"/>
              </a:rPr>
              <a:t>Research Questions</a:t>
            </a:r>
          </a:p>
        </p:txBody>
      </p:sp>
      <p:sp>
        <p:nvSpPr>
          <p:cNvPr id="3" name="Content Placeholder 2"/>
          <p:cNvSpPr>
            <a:spLocks noGrp="1"/>
          </p:cNvSpPr>
          <p:nvPr>
            <p:ph idx="1"/>
          </p:nvPr>
        </p:nvSpPr>
        <p:spPr/>
        <p:txBody>
          <a:bodyPr/>
          <a:lstStyle/>
          <a:p>
            <a:pPr marL="0" indent="0">
              <a:buNone/>
            </a:pPr>
            <a:r>
              <a:rPr lang="en-US">
                <a:latin typeface="Times New Roman" panose="02020603050405020304" pitchFamily="18" charset="0"/>
                <a:cs typeface="Times New Roman" panose="02020603050405020304" pitchFamily="18" charset="0"/>
              </a:rPr>
              <a:t>1. What are the existing systems that improve mental health services for refugees ?</a:t>
            </a:r>
          </a:p>
          <a:p>
            <a:pPr marL="0" indent="0">
              <a:buNone/>
            </a:pPr>
            <a:r>
              <a:rPr lang="en-US">
                <a:latin typeface="Times New Roman" panose="02020603050405020304" pitchFamily="18" charset="0"/>
                <a:cs typeface="Times New Roman" panose="02020603050405020304" pitchFamily="18" charset="0"/>
              </a:rPr>
              <a:t>2. </a:t>
            </a:r>
            <a:r>
              <a:rPr lang="en-US" altLang="en-US">
                <a:latin typeface="Times New Roman" panose="02020603050405020304" pitchFamily="18" charset="0"/>
                <a:cs typeface="Times New Roman" panose="02020603050405020304" pitchFamily="18" charset="0"/>
              </a:rPr>
              <a:t>Does the use of electronic mental health information system improve the mental health services delivery among refugees?</a:t>
            </a:r>
          </a:p>
          <a:p>
            <a:pPr marL="0" indent="0">
              <a:buNone/>
            </a:pPr>
            <a:r>
              <a:rPr lang="en-US" altLang="en-US">
                <a:latin typeface="Times New Roman" panose="02020603050405020304" pitchFamily="18" charset="0"/>
                <a:cs typeface="Times New Roman" panose="02020603050405020304" pitchFamily="18" charset="0"/>
              </a:rPr>
              <a:t>3. How can electronic mental health information be integrated in National health system?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6380"/>
            <a:ext cx="10515600" cy="1325563"/>
          </a:xfrm>
        </p:spPr>
        <p:txBody>
          <a:bodyPr/>
          <a:lstStyle/>
          <a:p>
            <a:pPr lvl="0"/>
            <a:r>
              <a:rPr lang="en-US" b="1" dirty="0"/>
              <a:t>Methodology</a:t>
            </a:r>
          </a:p>
        </p:txBody>
      </p:sp>
      <p:sp>
        <p:nvSpPr>
          <p:cNvPr id="3" name="Content Placeholder 2"/>
          <p:cNvSpPr>
            <a:spLocks noGrp="1"/>
          </p:cNvSpPr>
          <p:nvPr>
            <p:ph idx="1"/>
          </p:nvPr>
        </p:nvSpPr>
        <p:spPr>
          <a:xfrm>
            <a:off x="1029970" y="1825625"/>
            <a:ext cx="10515600" cy="4351338"/>
          </a:xfrm>
        </p:spPr>
        <p:txBody>
          <a:bodyPr/>
          <a:lstStyle/>
          <a:p>
            <a:pPr marL="0" lvl="0" indent="0" algn="just">
              <a:buNone/>
            </a:pPr>
            <a:endParaRPr lang="en-US" dirty="0"/>
          </a:p>
        </p:txBody>
      </p:sp>
      <p:sp>
        <p:nvSpPr>
          <p:cNvPr id="9" name="Rounded Rectangle 8"/>
          <p:cNvSpPr/>
          <p:nvPr/>
        </p:nvSpPr>
        <p:spPr>
          <a:xfrm>
            <a:off x="4750435" y="1825625"/>
            <a:ext cx="2387600" cy="86423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t>Gather</a:t>
            </a:r>
          </a:p>
          <a:p>
            <a:pPr algn="ctr"/>
            <a:r>
              <a:rPr lang="en-US"/>
              <a:t>Requirements </a:t>
            </a:r>
          </a:p>
        </p:txBody>
      </p:sp>
      <p:sp>
        <p:nvSpPr>
          <p:cNvPr id="10" name="Rounded Rectangle 9"/>
          <p:cNvSpPr/>
          <p:nvPr/>
        </p:nvSpPr>
        <p:spPr>
          <a:xfrm>
            <a:off x="2139315" y="2813685"/>
            <a:ext cx="2193290" cy="86423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t>Quick design</a:t>
            </a:r>
          </a:p>
        </p:txBody>
      </p:sp>
      <p:sp>
        <p:nvSpPr>
          <p:cNvPr id="11" name="Rounded Rectangle 10"/>
          <p:cNvSpPr/>
          <p:nvPr/>
        </p:nvSpPr>
        <p:spPr>
          <a:xfrm>
            <a:off x="7567930" y="2689860"/>
            <a:ext cx="1934210" cy="86423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t>Build Prototype</a:t>
            </a:r>
          </a:p>
        </p:txBody>
      </p:sp>
      <p:sp>
        <p:nvSpPr>
          <p:cNvPr id="12" name="Rounded Rectangle 11"/>
          <p:cNvSpPr/>
          <p:nvPr/>
        </p:nvSpPr>
        <p:spPr>
          <a:xfrm>
            <a:off x="2230755" y="4161155"/>
            <a:ext cx="2193290" cy="86423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t>Refine  Prototype</a:t>
            </a:r>
          </a:p>
        </p:txBody>
      </p:sp>
      <p:sp>
        <p:nvSpPr>
          <p:cNvPr id="13" name="Rounded Rectangle 12"/>
          <p:cNvSpPr/>
          <p:nvPr/>
        </p:nvSpPr>
        <p:spPr>
          <a:xfrm>
            <a:off x="7733030" y="4010660"/>
            <a:ext cx="2036445" cy="86423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t>Evaluate </a:t>
            </a:r>
          </a:p>
        </p:txBody>
      </p:sp>
      <p:sp>
        <p:nvSpPr>
          <p:cNvPr id="14" name="Rounded Rectangle 13"/>
          <p:cNvSpPr/>
          <p:nvPr/>
        </p:nvSpPr>
        <p:spPr>
          <a:xfrm>
            <a:off x="5438140" y="5201285"/>
            <a:ext cx="1699895" cy="86423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t>Product</a:t>
            </a:r>
          </a:p>
        </p:txBody>
      </p:sp>
      <p:sp>
        <p:nvSpPr>
          <p:cNvPr id="17" name="Right Arrow 16"/>
          <p:cNvSpPr/>
          <p:nvPr/>
        </p:nvSpPr>
        <p:spPr>
          <a:xfrm>
            <a:off x="4543425" y="3110230"/>
            <a:ext cx="2813685" cy="165100"/>
          </a:xfrm>
          <a:prstGeom prst="rightArrow">
            <a:avLst>
              <a:gd name="adj1" fmla="val 49532"/>
              <a:gd name="adj2" fmla="val 50000"/>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1" name="Bent-Up Arrow 20"/>
          <p:cNvSpPr/>
          <p:nvPr/>
        </p:nvSpPr>
        <p:spPr>
          <a:xfrm>
            <a:off x="6022340" y="3780155"/>
            <a:ext cx="75565" cy="75565"/>
          </a:xfrm>
          <a:prstGeom prst="bentUp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5" name="Bent-Up Arrow 24"/>
          <p:cNvSpPr/>
          <p:nvPr/>
        </p:nvSpPr>
        <p:spPr>
          <a:xfrm flipH="1" flipV="1">
            <a:off x="3547110" y="2383790"/>
            <a:ext cx="1203325" cy="429895"/>
          </a:xfrm>
          <a:prstGeom prst="bentUp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a:p>
            <a:pPr algn="ctr"/>
            <a:endParaRPr lang="en-US"/>
          </a:p>
          <a:p>
            <a:pPr algn="ctr"/>
            <a:endParaRPr lang="en-US"/>
          </a:p>
          <a:p>
            <a:pPr algn="ctr"/>
            <a:endParaRPr lang="en-US"/>
          </a:p>
          <a:p>
            <a:pPr algn="ctr"/>
            <a:endParaRPr lang="en-US"/>
          </a:p>
          <a:p>
            <a:pPr algn="ctr"/>
            <a:endParaRPr lang="en-US"/>
          </a:p>
        </p:txBody>
      </p:sp>
      <p:sp>
        <p:nvSpPr>
          <p:cNvPr id="26" name="Up Arrow 25"/>
          <p:cNvSpPr/>
          <p:nvPr/>
        </p:nvSpPr>
        <p:spPr>
          <a:xfrm>
            <a:off x="3064510" y="3677920"/>
            <a:ext cx="149860" cy="483235"/>
          </a:xfrm>
          <a:prstGeom prst="up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7" name="Down Arrow 26"/>
          <p:cNvSpPr/>
          <p:nvPr/>
        </p:nvSpPr>
        <p:spPr>
          <a:xfrm>
            <a:off x="8351520" y="3594735"/>
            <a:ext cx="158115" cy="38798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8" name="Left Arrow 27"/>
          <p:cNvSpPr/>
          <p:nvPr/>
        </p:nvSpPr>
        <p:spPr>
          <a:xfrm>
            <a:off x="4729480" y="4423410"/>
            <a:ext cx="2698115" cy="210185"/>
          </a:xfrm>
          <a:prstGeom prst="lef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33" name="Bent Arrow 32"/>
          <p:cNvSpPr/>
          <p:nvPr/>
        </p:nvSpPr>
        <p:spPr>
          <a:xfrm flipV="1">
            <a:off x="3439160" y="5201285"/>
            <a:ext cx="1998980" cy="483235"/>
          </a:xfrm>
          <a:prstGeom prst="ben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Justification</a:t>
            </a:r>
          </a:p>
        </p:txBody>
      </p:sp>
      <p:sp>
        <p:nvSpPr>
          <p:cNvPr id="3" name="Content Placeholder 2"/>
          <p:cNvSpPr>
            <a:spLocks noGrp="1"/>
          </p:cNvSpPr>
          <p:nvPr>
            <p:ph idx="1"/>
          </p:nvPr>
        </p:nvSpPr>
        <p:spPr/>
        <p:txBody>
          <a:bodyPr>
            <a:normAutofit fontScale="90000"/>
          </a:bodyPr>
          <a:lstStyle/>
          <a:p>
            <a:pPr marL="0" indent="0" algn="just">
              <a:lnSpc>
                <a:spcPct val="150000"/>
              </a:lnSpc>
              <a:buNone/>
            </a:pPr>
            <a:r>
              <a:rPr lang="en-US">
                <a:latin typeface="Times New Roman" panose="02020603050405020304" pitchFamily="18" charset="0"/>
                <a:cs typeface="Times New Roman" panose="02020603050405020304" pitchFamily="18" charset="0"/>
              </a:rPr>
              <a:t>Refugees face my mental health problems  and these are usually not reported or well managed due to poor recording and limited resources. The research aims create  an electronic system to keep mental health records, make services easier to access and provide timely care to the most vulnerable people. This will help health care workers, policemakers, and organizatons to plan better for mental health support. It will improve mental health services, make care efficient and help refugees receive the support they need.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Data Collection Methods</a:t>
            </a:r>
          </a:p>
        </p:txBody>
      </p:sp>
      <p:sp>
        <p:nvSpPr>
          <p:cNvPr id="3" name="Content Placeholder 2"/>
          <p:cNvSpPr>
            <a:spLocks noGrp="1"/>
          </p:cNvSpPr>
          <p:nvPr>
            <p:ph idx="1"/>
          </p:nvPr>
        </p:nvSpPr>
        <p:spPr/>
        <p:txBody>
          <a:bodyPr/>
          <a:lstStyle/>
          <a:p>
            <a:pPr marL="0" indent="0" algn="just">
              <a:buNone/>
            </a:pPr>
            <a:r>
              <a:rPr lang="en-US" altLang="en-US">
                <a:latin typeface="Times New Roman" panose="02020603050405020304" pitchFamily="18" charset="0"/>
                <a:cs typeface="Times New Roman" panose="02020603050405020304" pitchFamily="18" charset="0"/>
              </a:rPr>
              <a:t>Questionnaires: These involve closed ended questions on electronic health usage, benefits and challenges. They are used to collect data from sample of refugees using both online and paper based survey forms.</a:t>
            </a:r>
          </a:p>
          <a:p>
            <a:pPr marL="0" indent="0" algn="just">
              <a:buNone/>
            </a:pPr>
            <a:r>
              <a:rPr lang="en-US" altLang="en-US">
                <a:latin typeface="Times New Roman" panose="02020603050405020304" pitchFamily="18" charset="0"/>
                <a:cs typeface="Times New Roman" panose="02020603050405020304" pitchFamily="18" charset="0"/>
              </a:rPr>
              <a:t>Focus groups: This involves engage small group of refugees in discussions about the mental health services.</a:t>
            </a:r>
          </a:p>
          <a:p>
            <a:pPr marL="0" indent="0" algn="just">
              <a:buNone/>
            </a:pPr>
            <a:r>
              <a:rPr lang="en-US" altLang="en-US">
                <a:latin typeface="Times New Roman" panose="02020603050405020304" pitchFamily="18" charset="0"/>
                <a:cs typeface="Times New Roman" panose="02020603050405020304" pitchFamily="18" charset="0"/>
              </a:rPr>
              <a:t>Observations: Examine the refugees interaction with electronic health platforms. This helps understand usability challenges and engagement levels.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a:t>Ethical Considerations</a:t>
            </a:r>
          </a:p>
        </p:txBody>
      </p:sp>
      <p:sp>
        <p:nvSpPr>
          <p:cNvPr id="3" name="Content Placeholder 2"/>
          <p:cNvSpPr>
            <a:spLocks noGrp="1"/>
          </p:cNvSpPr>
          <p:nvPr>
            <p:ph idx="1"/>
          </p:nvPr>
        </p:nvSpPr>
        <p:spPr/>
        <p:txBody>
          <a:bodyPr/>
          <a:lstStyle/>
          <a:p>
            <a:pPr algn="just"/>
            <a:r>
              <a:rPr lang="en-US" altLang="en-US"/>
              <a:t>Informed consent: The participant will be briefed on the study’s purpose and provide informant consent.</a:t>
            </a:r>
          </a:p>
          <a:p>
            <a:pPr algn="just"/>
            <a:r>
              <a:rPr lang="en-US" altLang="en-US"/>
              <a:t>Confidentiality: The information will be kept confidential and the responses will be used for the academic purposes.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latin typeface="Times New Roman" panose="02020603050405020304" pitchFamily="18" charset="0"/>
                <a:cs typeface="Times New Roman" panose="02020603050405020304" pitchFamily="18" charset="0"/>
              </a:rPr>
              <a:t>REFERENCES</a:t>
            </a:r>
            <a:br>
              <a:rPr lang="en-US" dirty="0"/>
            </a:br>
            <a:endParaRPr lang="en-US" dirty="0"/>
          </a:p>
        </p:txBody>
      </p:sp>
      <p:graphicFrame>
        <p:nvGraphicFramePr>
          <p:cNvPr id="4" name="Content Placeholder 3"/>
          <p:cNvGraphicFramePr>
            <a:graphicFrameLocks noGrp="1"/>
          </p:cNvGraphicFramePr>
          <p:nvPr>
            <p:ph idx="1"/>
            <p:custDataLst>
              <p:tags r:id="rId1"/>
            </p:custDataLst>
          </p:nvPr>
        </p:nvGraphicFramePr>
        <p:xfrm>
          <a:off x="276225" y="1825625"/>
          <a:ext cx="10348595" cy="4307205"/>
        </p:xfrm>
        <a:graphic>
          <a:graphicData uri="http://schemas.openxmlformats.org/drawingml/2006/table">
            <a:tbl>
              <a:tblPr firstRow="1" firstCol="1" bandRow="1">
                <a:tableStyleId>{5C22544A-7EE6-4342-B048-85BDC9FD1C3A}</a:tableStyleId>
              </a:tblPr>
              <a:tblGrid>
                <a:gridCol w="103505">
                  <a:extLst>
                    <a:ext uri="{9D8B030D-6E8A-4147-A177-3AD203B41FA5}">
                      <a16:colId xmlns:a16="http://schemas.microsoft.com/office/drawing/2014/main" val="20000"/>
                    </a:ext>
                  </a:extLst>
                </a:gridCol>
                <a:gridCol w="10245090">
                  <a:extLst>
                    <a:ext uri="{9D8B030D-6E8A-4147-A177-3AD203B41FA5}">
                      <a16:colId xmlns:a16="http://schemas.microsoft.com/office/drawing/2014/main" val="20001"/>
                    </a:ext>
                  </a:extLst>
                </a:gridCol>
              </a:tblGrid>
              <a:tr h="715645">
                <a:tc>
                  <a:txBody>
                    <a:bodyPr/>
                    <a:lstStyle/>
                    <a:p>
                      <a:pPr marL="0" marR="0" algn="just">
                        <a:lnSpc>
                          <a:spcPct val="150000"/>
                        </a:lnSpc>
                        <a:spcBef>
                          <a:spcPts val="0"/>
                        </a:spcBef>
                        <a:spcAft>
                          <a:spcPts val="0"/>
                        </a:spcAft>
                      </a:pPr>
                      <a:r>
                        <a:rPr lang="en-US" sz="1000" dirty="0">
                          <a:effectLst/>
                        </a:rPr>
                        <a:t>[1] </a:t>
                      </a:r>
                      <a:endParaRPr lang="en-US" sz="900" dirty="0">
                        <a:effectLst/>
                        <a:latin typeface="Calibri" panose="020F0502020204030204" pitchFamily="34" charset="0"/>
                        <a:ea typeface="SimSun" panose="02010600030101010101" pitchFamily="2" charset="-122"/>
                        <a:cs typeface="Times New Roman" panose="02020603050405020304" pitchFamily="18" charset="0"/>
                      </a:endParaRPr>
                    </a:p>
                  </a:txBody>
                  <a:tcPr marL="8204" marR="8204" marT="8204" marB="8204"/>
                </a:tc>
                <a:tc>
                  <a:txBody>
                    <a:bodyPr/>
                    <a:lstStyle/>
                    <a:p>
                      <a:pPr marL="0" marR="0" algn="just">
                        <a:lnSpc>
                          <a:spcPct val="150000"/>
                        </a:lnSpc>
                        <a:spcBef>
                          <a:spcPts val="0"/>
                        </a:spcBef>
                        <a:spcAft>
                          <a:spcPts val="0"/>
                        </a:spcAft>
                      </a:pPr>
                      <a:r>
                        <a:rPr lang="en-US" sz="1000" dirty="0">
                          <a:effectLst/>
                        </a:rPr>
                        <a:t>WHO, "World Health </a:t>
                      </a:r>
                      <a:r>
                        <a:rPr lang="en-US" sz="1000" dirty="0" err="1">
                          <a:effectLst/>
                        </a:rPr>
                        <a:t>Organizatioin</a:t>
                      </a:r>
                      <a:r>
                        <a:rPr lang="en-US" sz="1000" dirty="0">
                          <a:effectLst/>
                        </a:rPr>
                        <a:t>," 2023.</a:t>
                      </a:r>
                      <a:endParaRPr lang="en-US" sz="900" dirty="0">
                        <a:effectLst/>
                        <a:latin typeface="Calibri" panose="020F0502020204030204" pitchFamily="34" charset="0"/>
                        <a:ea typeface="SimSun" panose="02010600030101010101" pitchFamily="2" charset="-122"/>
                        <a:cs typeface="Times New Roman" panose="02020603050405020304" pitchFamily="18" charset="0"/>
                      </a:endParaRPr>
                    </a:p>
                  </a:txBody>
                  <a:tcPr marL="8204" marR="8204" marT="8204" marB="8204"/>
                </a:tc>
                <a:extLst>
                  <a:ext uri="{0D108BD9-81ED-4DB2-BD59-A6C34878D82A}">
                    <a16:rowId xmlns:a16="http://schemas.microsoft.com/office/drawing/2014/main" val="10000"/>
                  </a:ext>
                </a:extLst>
              </a:tr>
              <a:tr h="715010">
                <a:tc>
                  <a:txBody>
                    <a:bodyPr/>
                    <a:lstStyle/>
                    <a:p>
                      <a:pPr marL="0" marR="0" algn="just">
                        <a:lnSpc>
                          <a:spcPct val="150000"/>
                        </a:lnSpc>
                        <a:spcBef>
                          <a:spcPts val="0"/>
                        </a:spcBef>
                        <a:spcAft>
                          <a:spcPts val="0"/>
                        </a:spcAft>
                      </a:pPr>
                      <a:r>
                        <a:rPr lang="en-US" sz="1000">
                          <a:effectLst/>
                        </a:rPr>
                        <a:t>[2] </a:t>
                      </a:r>
                      <a:endParaRPr lang="en-US" sz="900">
                        <a:effectLst/>
                        <a:latin typeface="Calibri" panose="020F0502020204030204" pitchFamily="34" charset="0"/>
                        <a:ea typeface="SimSun" panose="02010600030101010101" pitchFamily="2" charset="-122"/>
                        <a:cs typeface="Times New Roman" panose="02020603050405020304" pitchFamily="18" charset="0"/>
                      </a:endParaRPr>
                    </a:p>
                  </a:txBody>
                  <a:tcPr marL="8204" marR="8204" marT="8204" marB="8204"/>
                </a:tc>
                <a:tc>
                  <a:txBody>
                    <a:bodyPr/>
                    <a:lstStyle/>
                    <a:p>
                      <a:pPr marL="0" marR="0" algn="just">
                        <a:lnSpc>
                          <a:spcPct val="150000"/>
                        </a:lnSpc>
                        <a:spcBef>
                          <a:spcPts val="0"/>
                        </a:spcBef>
                        <a:spcAft>
                          <a:spcPts val="0"/>
                        </a:spcAft>
                      </a:pPr>
                      <a:r>
                        <a:rPr lang="en-US" sz="1000">
                          <a:effectLst/>
                        </a:rPr>
                        <a:t>M. Sijbrandija, " Strengthening mental health care systems for Syrian refugees in Europe and the Middle East: integrating scalable psychological interventions in eight countries.," EUROPEAN JOURNAL OF PSYCHOTRAUMATOLOGY, 2017. </a:t>
                      </a:r>
                      <a:endParaRPr lang="en-US" sz="900">
                        <a:effectLst/>
                        <a:latin typeface="Calibri" panose="020F0502020204030204" pitchFamily="34" charset="0"/>
                        <a:ea typeface="SimSun" panose="02010600030101010101" pitchFamily="2" charset="-122"/>
                        <a:cs typeface="Times New Roman" panose="02020603050405020304" pitchFamily="18" charset="0"/>
                      </a:endParaRPr>
                    </a:p>
                  </a:txBody>
                  <a:tcPr marL="8204" marR="8204" marT="8204" marB="8204"/>
                </a:tc>
                <a:extLst>
                  <a:ext uri="{0D108BD9-81ED-4DB2-BD59-A6C34878D82A}">
                    <a16:rowId xmlns:a16="http://schemas.microsoft.com/office/drawing/2014/main" val="10001"/>
                  </a:ext>
                </a:extLst>
              </a:tr>
              <a:tr h="715645">
                <a:tc>
                  <a:txBody>
                    <a:bodyPr/>
                    <a:lstStyle/>
                    <a:p>
                      <a:pPr marL="0" marR="0" algn="just">
                        <a:lnSpc>
                          <a:spcPct val="150000"/>
                        </a:lnSpc>
                        <a:spcBef>
                          <a:spcPts val="0"/>
                        </a:spcBef>
                        <a:spcAft>
                          <a:spcPts val="0"/>
                        </a:spcAft>
                      </a:pPr>
                      <a:r>
                        <a:rPr lang="en-US" sz="1000">
                          <a:effectLst/>
                        </a:rPr>
                        <a:t>[3] </a:t>
                      </a:r>
                      <a:endParaRPr lang="en-US" sz="900">
                        <a:effectLst/>
                        <a:latin typeface="Calibri" panose="020F0502020204030204" pitchFamily="34" charset="0"/>
                        <a:ea typeface="SimSun" panose="02010600030101010101" pitchFamily="2" charset="-122"/>
                        <a:cs typeface="Times New Roman" panose="02020603050405020304" pitchFamily="18" charset="0"/>
                      </a:endParaRPr>
                    </a:p>
                  </a:txBody>
                  <a:tcPr marL="8204" marR="8204" marT="8204" marB="8204"/>
                </a:tc>
                <a:tc>
                  <a:txBody>
                    <a:bodyPr/>
                    <a:lstStyle/>
                    <a:p>
                      <a:pPr marL="0" marR="0" algn="just">
                        <a:lnSpc>
                          <a:spcPct val="150000"/>
                        </a:lnSpc>
                        <a:spcBef>
                          <a:spcPts val="0"/>
                        </a:spcBef>
                        <a:spcAft>
                          <a:spcPts val="0"/>
                        </a:spcAft>
                      </a:pPr>
                      <a:r>
                        <a:rPr lang="en-US" sz="1000" dirty="0">
                          <a:effectLst/>
                        </a:rPr>
                        <a:t>T. M. S. Ahuja, "Key influences in the design and implementation of mental health information systems in Ghana and South Africa," 2016. </a:t>
                      </a:r>
                      <a:endParaRPr lang="en-US" sz="900" dirty="0">
                        <a:effectLst/>
                        <a:latin typeface="Calibri" panose="020F0502020204030204" pitchFamily="34" charset="0"/>
                        <a:ea typeface="SimSun" panose="02010600030101010101" pitchFamily="2" charset="-122"/>
                        <a:cs typeface="Times New Roman" panose="02020603050405020304" pitchFamily="18" charset="0"/>
                      </a:endParaRPr>
                    </a:p>
                  </a:txBody>
                  <a:tcPr marL="8204" marR="8204" marT="8204" marB="8204"/>
                </a:tc>
                <a:extLst>
                  <a:ext uri="{0D108BD9-81ED-4DB2-BD59-A6C34878D82A}">
                    <a16:rowId xmlns:a16="http://schemas.microsoft.com/office/drawing/2014/main" val="10002"/>
                  </a:ext>
                </a:extLst>
              </a:tr>
              <a:tr h="730250">
                <a:tc>
                  <a:txBody>
                    <a:bodyPr/>
                    <a:lstStyle/>
                    <a:p>
                      <a:pPr marL="0" marR="0" algn="just">
                        <a:lnSpc>
                          <a:spcPct val="150000"/>
                        </a:lnSpc>
                        <a:spcBef>
                          <a:spcPts val="0"/>
                        </a:spcBef>
                        <a:spcAft>
                          <a:spcPts val="0"/>
                        </a:spcAft>
                      </a:pPr>
                      <a:r>
                        <a:rPr lang="en-US" sz="1000">
                          <a:effectLst/>
                        </a:rPr>
                        <a:t>[4] </a:t>
                      </a:r>
                      <a:endParaRPr lang="en-US" sz="900">
                        <a:effectLst/>
                        <a:latin typeface="Calibri" panose="020F0502020204030204" pitchFamily="34" charset="0"/>
                        <a:ea typeface="SimSun" panose="02010600030101010101" pitchFamily="2" charset="-122"/>
                        <a:cs typeface="Times New Roman" panose="02020603050405020304" pitchFamily="18" charset="0"/>
                      </a:endParaRPr>
                    </a:p>
                  </a:txBody>
                  <a:tcPr marL="8204" marR="8204" marT="8204" marB="8204"/>
                </a:tc>
                <a:tc>
                  <a:txBody>
                    <a:bodyPr/>
                    <a:lstStyle/>
                    <a:p>
                      <a:pPr marL="0" marR="0" algn="just">
                        <a:lnSpc>
                          <a:spcPct val="150000"/>
                        </a:lnSpc>
                        <a:spcBef>
                          <a:spcPts val="0"/>
                        </a:spcBef>
                        <a:spcAft>
                          <a:spcPts val="0"/>
                        </a:spcAft>
                      </a:pPr>
                      <a:r>
                        <a:rPr lang="en-US" sz="1000" dirty="0">
                          <a:effectLst/>
                        </a:rPr>
                        <a:t>WHO, " World Health Organization, Mental health in emergencies," 2023.</a:t>
                      </a:r>
                      <a:endParaRPr lang="en-US" sz="900" dirty="0">
                        <a:effectLst/>
                        <a:latin typeface="Calibri" panose="020F0502020204030204" pitchFamily="34" charset="0"/>
                        <a:ea typeface="SimSun" panose="02010600030101010101" pitchFamily="2" charset="-122"/>
                        <a:cs typeface="Times New Roman" panose="02020603050405020304" pitchFamily="18" charset="0"/>
                      </a:endParaRPr>
                    </a:p>
                  </a:txBody>
                  <a:tcPr marL="8204" marR="8204" marT="8204" marB="8204"/>
                </a:tc>
                <a:extLst>
                  <a:ext uri="{0D108BD9-81ED-4DB2-BD59-A6C34878D82A}">
                    <a16:rowId xmlns:a16="http://schemas.microsoft.com/office/drawing/2014/main" val="10003"/>
                  </a:ext>
                </a:extLst>
              </a:tr>
              <a:tr h="715010">
                <a:tc>
                  <a:txBody>
                    <a:bodyPr/>
                    <a:lstStyle/>
                    <a:p>
                      <a:pPr marL="0" marR="0" algn="just">
                        <a:lnSpc>
                          <a:spcPct val="150000"/>
                        </a:lnSpc>
                        <a:spcBef>
                          <a:spcPts val="0"/>
                        </a:spcBef>
                        <a:spcAft>
                          <a:spcPts val="0"/>
                        </a:spcAft>
                      </a:pPr>
                      <a:r>
                        <a:rPr lang="en-US" sz="1000">
                          <a:effectLst/>
                        </a:rPr>
                        <a:t>[5] </a:t>
                      </a:r>
                      <a:endParaRPr lang="en-US" sz="900">
                        <a:effectLst/>
                        <a:latin typeface="Calibri" panose="020F0502020204030204" pitchFamily="34" charset="0"/>
                        <a:ea typeface="SimSun" panose="02010600030101010101" pitchFamily="2" charset="-122"/>
                        <a:cs typeface="Times New Roman" panose="02020603050405020304" pitchFamily="18" charset="0"/>
                      </a:endParaRPr>
                    </a:p>
                  </a:txBody>
                  <a:tcPr marL="8204" marR="8204" marT="8204" marB="8204"/>
                </a:tc>
                <a:tc>
                  <a:txBody>
                    <a:bodyPr/>
                    <a:lstStyle/>
                    <a:p>
                      <a:pPr marL="0" marR="0" algn="just">
                        <a:lnSpc>
                          <a:spcPct val="150000"/>
                        </a:lnSpc>
                        <a:spcBef>
                          <a:spcPts val="0"/>
                        </a:spcBef>
                        <a:spcAft>
                          <a:spcPts val="0"/>
                        </a:spcAft>
                      </a:pPr>
                      <a:r>
                        <a:rPr lang="en-US" sz="1000">
                          <a:effectLst/>
                        </a:rPr>
                        <a:t>S. E. ,. M. N. ,. F. B. ,. T. M. Adeel Ashfaq, " Utilization of Mobile Mental Health Services among Syrian Refugees and Other Vulnerable Arab Populations—A Systematic Review," International Journal of Environment Research and public Health, 2020. </a:t>
                      </a:r>
                      <a:endParaRPr lang="en-US" sz="900">
                        <a:effectLst/>
                        <a:latin typeface="Calibri" panose="020F0502020204030204" pitchFamily="34" charset="0"/>
                        <a:ea typeface="SimSun" panose="02010600030101010101" pitchFamily="2" charset="-122"/>
                        <a:cs typeface="Times New Roman" panose="02020603050405020304" pitchFamily="18" charset="0"/>
                      </a:endParaRPr>
                    </a:p>
                  </a:txBody>
                  <a:tcPr marL="8204" marR="8204" marT="8204" marB="8204"/>
                </a:tc>
                <a:extLst>
                  <a:ext uri="{0D108BD9-81ED-4DB2-BD59-A6C34878D82A}">
                    <a16:rowId xmlns:a16="http://schemas.microsoft.com/office/drawing/2014/main" val="10004"/>
                  </a:ext>
                </a:extLst>
              </a:tr>
              <a:tr h="715645">
                <a:tc>
                  <a:txBody>
                    <a:bodyPr/>
                    <a:lstStyle/>
                    <a:p>
                      <a:pPr marL="0" marR="0" algn="just">
                        <a:lnSpc>
                          <a:spcPct val="150000"/>
                        </a:lnSpc>
                        <a:spcBef>
                          <a:spcPts val="0"/>
                        </a:spcBef>
                        <a:spcAft>
                          <a:spcPts val="0"/>
                        </a:spcAft>
                      </a:pPr>
                      <a:r>
                        <a:rPr lang="en-US" sz="1000">
                          <a:effectLst/>
                        </a:rPr>
                        <a:t>[6] </a:t>
                      </a:r>
                      <a:endParaRPr lang="en-US" sz="900">
                        <a:effectLst/>
                        <a:latin typeface="Calibri" panose="020F0502020204030204" pitchFamily="34" charset="0"/>
                        <a:ea typeface="SimSun" panose="02010600030101010101" pitchFamily="2" charset="-122"/>
                        <a:cs typeface="Times New Roman" panose="02020603050405020304" pitchFamily="18" charset="0"/>
                      </a:endParaRPr>
                    </a:p>
                  </a:txBody>
                  <a:tcPr marL="8204" marR="8204" marT="8204" marB="8204"/>
                </a:tc>
                <a:tc>
                  <a:txBody>
                    <a:bodyPr/>
                    <a:lstStyle/>
                    <a:p>
                      <a:pPr marL="0" marR="0" algn="just">
                        <a:lnSpc>
                          <a:spcPct val="150000"/>
                        </a:lnSpc>
                        <a:spcBef>
                          <a:spcPts val="0"/>
                        </a:spcBef>
                        <a:spcAft>
                          <a:spcPts val="0"/>
                        </a:spcAft>
                      </a:pPr>
                      <a:r>
                        <a:rPr lang="en-US" sz="1000" dirty="0">
                          <a:effectLst/>
                        </a:rPr>
                        <a:t>A. </a:t>
                      </a:r>
                      <a:r>
                        <a:rPr lang="en-US" sz="1000" dirty="0" err="1">
                          <a:effectLst/>
                        </a:rPr>
                        <a:t>Liem</a:t>
                      </a:r>
                      <a:r>
                        <a:rPr lang="en-US" sz="1000" dirty="0">
                          <a:effectLst/>
                        </a:rPr>
                        <a:t>, Digital health applications in mental health care for immigrants and refugees: A rapid review, 2021. </a:t>
                      </a:r>
                      <a:endParaRPr lang="en-US" sz="900" dirty="0">
                        <a:effectLst/>
                        <a:latin typeface="Calibri" panose="020F0502020204030204" pitchFamily="34" charset="0"/>
                        <a:ea typeface="SimSun" panose="02010600030101010101" pitchFamily="2" charset="-122"/>
                        <a:cs typeface="Times New Roman" panose="02020603050405020304" pitchFamily="18" charset="0"/>
                      </a:endParaRPr>
                    </a:p>
                  </a:txBody>
                  <a:tcPr marL="8204" marR="8204" marT="8204" marB="8204"/>
                </a:tc>
                <a:extLst>
                  <a:ext uri="{0D108BD9-81ED-4DB2-BD59-A6C34878D82A}">
                    <a16:rowId xmlns:a16="http://schemas.microsoft.com/office/drawing/2014/main" val="10005"/>
                  </a:ext>
                </a:extLst>
              </a:tr>
            </a:tbl>
          </a:graphicData>
        </a:graphic>
      </p:graphicFrame>
      <p:sp>
        <p:nvSpPr>
          <p:cNvPr id="5" name="Rectangle 1"/>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52352"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sz="1200" b="0" i="0" u="none" strike="noStrike" cap="none" normalizeH="0" baseline="0">
                <a:ln>
                  <a:noFill/>
                </a:ln>
                <a:solidFill>
                  <a:srgbClr val="2E74B5"/>
                </a:solidFill>
                <a:effectLst/>
                <a:latin typeface="Times New Roman" panose="02020603050405020304" pitchFamily="18" charset="0"/>
                <a:ea typeface="SimSun" panose="02010600030101010101" pitchFamily="2" charset="-122"/>
                <a:cs typeface="Times New Roman" panose="02020603050405020304" pitchFamily="18" charset="0"/>
              </a:rPr>
              <a:t>Works Cited</a:t>
            </a:r>
            <a:endParaRPr kumimoji="0" lang="en-US" sz="1600" b="0" i="0" u="none" strike="noStrike" cap="none" normalizeH="0" baseline="0">
              <a:ln>
                <a:noFill/>
              </a:ln>
              <a:solidFill>
                <a:srgbClr val="2E74B5"/>
              </a:solidFill>
              <a:effectLst/>
              <a:latin typeface="Calibri Light" panose="020F0302020204030204" pitchFamily="34" charset="0"/>
              <a:ea typeface="SimSun"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gn="ctr">
              <a:buNone/>
            </a:pPr>
            <a:r>
              <a:rPr lang="en-US"/>
              <a:t> END</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14*339"/>
  <p:tag name="TABLE_ENDDRAG_RECT" val="21*143*814*33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1216</Words>
  <Application>Microsoft Office PowerPoint</Application>
  <PresentationFormat>Widescreen</PresentationFormat>
  <Paragraphs>70</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DESIGN AND IMPLEMENTATION OF ELECTRONIC MENTAL HEALTH INFORMATION SYSTEM FOR REFUGEES IN UGANDA CASE : SOUTH WESTERN </vt:lpstr>
      <vt:lpstr>Introduction/Background</vt:lpstr>
      <vt:lpstr>PowerPoint Presentation</vt:lpstr>
      <vt:lpstr>PowerPoint Presentation</vt:lpstr>
      <vt:lpstr>PowerPoint Presentation</vt:lpstr>
      <vt:lpstr>PowerPoint Presentation</vt:lpstr>
      <vt:lpstr>Problem Statement</vt:lpstr>
      <vt:lpstr>Problem Statement Cont’</vt:lpstr>
      <vt:lpstr>Main Objective</vt:lpstr>
      <vt:lpstr>Research Questions</vt:lpstr>
      <vt:lpstr>Methodology</vt:lpstr>
      <vt:lpstr>Justification</vt:lpstr>
      <vt:lpstr>Data Collection Methods</vt:lpstr>
      <vt:lpstr>Ethical Considerations</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NAKIVALE JC-PC2</dc:creator>
  <cp:lastModifiedBy>USER</cp:lastModifiedBy>
  <cp:revision>65</cp:revision>
  <dcterms:created xsi:type="dcterms:W3CDTF">2025-09-11T13:18:00Z</dcterms:created>
  <dcterms:modified xsi:type="dcterms:W3CDTF">2025-10-31T06:37:53Z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F900E7DD9A854B7D82C77FA2D83B3C5A_12</vt:lpwstr>
  </property>
  <property fmtid="{D5CDD505-2E9C-101B-9397-08002B2CF9AE}" pid="3" name="KSOProductBuildVer">
    <vt:lpwstr>1033-12.2.0.21179</vt:lpwstr>
  </property>
</Properties>
</file>